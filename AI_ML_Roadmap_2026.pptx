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E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891B2">
              <a:alpha val="8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/ ML 학습 로드맵 2026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LLMOps 완벽 가이드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초보 ML 엔지니어를 위한 실전 학습 로드맵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Edition  |  Beginner-Friendly  |  Production-Ready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목차 (Table of Contents)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" cy="292608"/>
          </a:xfrm>
          <a:prstGeom prst="rect">
            <a:avLst>
              <a:gd name="adj" fmla="val 9375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 ML 엔지니어인가?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02920" cy="292608"/>
          </a:xfrm>
          <a:prstGeom prst="rect">
            <a:avLst>
              <a:gd name="adj" fmla="val 9375"/>
            </a:avLst>
          </a:prstGeom>
          <a:solidFill>
            <a:srgbClr val="0F2E5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6개월 학습 로드맵 개요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02920" cy="292608"/>
          </a:xfrm>
          <a:prstGeom prst="rect">
            <a:avLst>
              <a:gd name="adj" fmla="val 9375"/>
            </a:avLst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288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828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1~4: 단계별 상세 학습 가이드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502920" cy="292608"/>
          </a:xfrm>
          <a:prstGeom prst="rect">
            <a:avLst>
              <a:gd name="adj" fmla="val 9375"/>
            </a:avLst>
          </a:prstGeom>
          <a:solidFill>
            <a:srgbClr val="0F2E5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945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1945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필수 라이브러리 총정리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502920" cy="292608"/>
          </a:xfrm>
          <a:prstGeom prst="rect">
            <a:avLst>
              <a:gd name="adj" fmla="val 9375"/>
            </a:avLst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603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5603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개념과 핵심 컴포넌트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502920" cy="292608"/>
          </a:xfrm>
          <a:prstGeom prst="rect">
            <a:avLst>
              <a:gd name="adj" fmla="val 9375"/>
            </a:avLst>
          </a:prstGeom>
          <a:solidFill>
            <a:srgbClr val="0F2E5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26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9260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주요 도구 비교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502920" cy="292608"/>
          </a:xfrm>
          <a:prstGeom prst="rect">
            <a:avLst>
              <a:gd name="adj" fmla="val 9375"/>
            </a:avLst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918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2918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개념과 핵심 컴포넌트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502920" cy="292608"/>
          </a:xfrm>
          <a:prstGeom prst="rect">
            <a:avLst>
              <a:gd name="adj" fmla="val 9375"/>
            </a:avLst>
          </a:prstGeom>
          <a:solidFill>
            <a:srgbClr val="0F2E5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6576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3657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주요 도구 및 플랫폼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502920" cy="292608"/>
          </a:xfrm>
          <a:prstGeom prst="rect">
            <a:avLst>
              <a:gd name="adj" fmla="val 9375"/>
            </a:avLst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0233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40233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vs Fine-Tuning 전략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4389120"/>
            <a:ext cx="502920" cy="292608"/>
          </a:xfrm>
          <a:prstGeom prst="rect">
            <a:avLst>
              <a:gd name="adj" fmla="val 9375"/>
            </a:avLst>
          </a:prstGeom>
          <a:solidFill>
            <a:srgbClr val="0F2E5B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3891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43891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활용 사례 &amp; 베스트 프랙티스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왜 지금 ML 엔지니어인가?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관련 직무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연평균 성장률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16459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0F2E5B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2E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$180B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9184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글로벌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시장 규모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560320" cy="16459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097280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2648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수요 높은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직군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17520"/>
            <a:ext cx="228600" cy="228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440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산업에서 AI/ML 도입이 가속화 → 헬스케어, 금융, 제조, 리테일</a:t>
            </a:r>
            <a:endParaRPr lang="en-US" sz="12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2900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14400" y="3429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ML 엔지니어는 단순 알고리즘 튜너가 아닌 MLOps 전문가로 진화</a:t>
            </a:r>
            <a:endParaRPr lang="en-US" sz="12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440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하이브리드 역량(ML + DL + GenAI + MLOps) 보유 인재의 수요 폭증</a:t>
            </a:r>
            <a:endParaRPr lang="en-US" sz="12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5196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251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기반 서비스의 폭발적 성장 → LLMOps 전문가 시장 형성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6개월 학습 로드맵 개요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325880" cy="32004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05840"/>
            <a:ext cx="1325880" cy="7315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1874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기초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74320" y="23317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NumPy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Math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508760" y="21031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719072" y="1005840"/>
            <a:ext cx="1325880" cy="32004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719072" y="1005840"/>
            <a:ext cx="1325880" cy="731520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72" y="1097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19072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719072" y="1874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실전 ML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719072" y="23317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분류/회귀/군집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2953512" y="21031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3163824" y="1005840"/>
            <a:ext cx="1325880" cy="32004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163824" y="1005840"/>
            <a:ext cx="1325880" cy="731520"/>
          </a:xfrm>
          <a:prstGeom prst="rect">
            <a:avLst/>
          </a:prstGeom>
          <a:solidFill>
            <a:srgbClr val="0F2E5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10972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163824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163824" y="1874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딥러닝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3163824" y="23317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CNN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RNN, Attention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398264" y="21031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4608576" y="1005840"/>
            <a:ext cx="1325880" cy="32004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08576" y="1005840"/>
            <a:ext cx="1325880" cy="731520"/>
          </a:xfrm>
          <a:prstGeom prst="rect">
            <a:avLst/>
          </a:prstGeom>
          <a:solidFill>
            <a:srgbClr val="4338C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109728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608576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608576" y="1874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GenAI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4608576" y="23317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LLM, RAG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5843016" y="21031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5"/>
          <p:cNvSpPr/>
          <p:nvPr/>
        </p:nvSpPr>
        <p:spPr>
          <a:xfrm>
            <a:off x="6053328" y="1005840"/>
            <a:ext cx="1325880" cy="32004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053328" y="1005840"/>
            <a:ext cx="1325880" cy="731520"/>
          </a:xfrm>
          <a:prstGeom prst="rect">
            <a:avLst/>
          </a:prstGeom>
          <a:solidFill>
            <a:srgbClr val="6D28D9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09728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053328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6053328" y="1874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MLOps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6053328" y="23317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CI/CD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MLflow, Deploy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7287768" y="21031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1"/>
          <p:cNvSpPr/>
          <p:nvPr/>
        </p:nvSpPr>
        <p:spPr>
          <a:xfrm>
            <a:off x="7498080" y="1005840"/>
            <a:ext cx="1325880" cy="32004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7498080" y="1005840"/>
            <a:ext cx="1325880" cy="73152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1097280"/>
            <a:ext cx="365760" cy="36576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498080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7498080" y="1874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캡스톤</a:t>
            </a:r>
            <a:endParaRPr lang="en-US" sz="1600" dirty="0"/>
          </a:p>
        </p:txBody>
      </p:sp>
      <p:sp>
        <p:nvSpPr>
          <p:cNvPr id="43" name="Text 35"/>
          <p:cNvSpPr/>
          <p:nvPr/>
        </p:nvSpPr>
        <p:spPr>
          <a:xfrm>
            <a:off x="7498080" y="23317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endParaRPr lang="en-US" sz="1150" dirty="0"/>
          </a:p>
        </p:txBody>
      </p:sp>
      <p:sp>
        <p:nvSpPr>
          <p:cNvPr id="44" name="Text 3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각 단계마다 미니 프로젝트를 반드시 수행하세요. 포트폴리오가 곧 자격증입니다.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1: 기초 다지기 (Month 1)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프로그래밍 + 수학 기초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31089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프로그래밍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87452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변수, 자료형, 조건문, 반복문 기초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함수, 클래스, 모듈 구조화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실습 환경 구축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NumPy: 벡터/행렬 연산, 브로드캐스팅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DataFrame, 데이터 정제/필터링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Matplotlib/Seaborn: 시각화 기초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931920" cy="31089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수학 기초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937760" y="187452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선형대수: 벡터, 행렬, 고유값 분해</a:t>
            </a:r>
            <a:endParaRPr lang="en-US" sz="12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임베딩, 차원 축소의 수학적 기반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확률/통계: 분포, 기댓값, 베이즈 정리</a:t>
            </a:r>
            <a:endParaRPr lang="en-US" sz="12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모델 불확실성, 샘플링 이해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미적분: 편미분, 그래디언트</a:t>
            </a:r>
            <a:endParaRPr lang="en-US" sz="12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역전파(Backpropagation) 이해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리소스: Khan Academy, 3Blue1Brown (선형대수), Andrew Ng Coursera ML 강의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실전 머신러닝 (Month 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기반 분류, 회귀, 군집 분석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06040" cy="29260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60604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지도 학습 (Supervised)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회귀: 선형회귀, Ridge, Lasso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분류: 로지스틱, SVM, Random Forest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평가: Accuracy, F1, ROC-AUC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06040" cy="29260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80160"/>
            <a:ext cx="2606040" cy="457200"/>
          </a:xfrm>
          <a:prstGeom prst="rect">
            <a:avLst/>
          </a:prstGeom>
          <a:solidFill>
            <a:srgbClr val="0F2E5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280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비지도 학습 (Unsupervised)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8745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군집: K-Means, DBSCAN, 계층적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차원 축소: PCA, t-SNE, UMAP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 탐지: Isolation Forest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606040" cy="29260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280160"/>
            <a:ext cx="260604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280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모델 파이프라인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8745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전처리: 스케일링, 인코딩, 결측치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하이퍼파라미터 튜닝: Grid/Random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검증, SHAP 해석력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프로젝트: 주택 가격 예측, 고객 이탈 분류, 고객 세그멘테이션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F2E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3: 딥러닝 (Month 3)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기반 신경망 설계 및 학습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 (인공 신경망)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12344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활성화 함수, 손실 함수, 옵티마이저(SGD, Adam)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역전파 알고리즘, 배치 정규화, 드롭아웃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4884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148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 (합성곱 신경망)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21488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분류, 객체 탐지 기초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ResNet, VGG, EfficientNet 아키텍처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8229600" cy="77724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6324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63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/ LSTM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0" y="30632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시퀀스 데이터, 시계열 예측, 텍스트 처리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 문제와 LSTM/GRU 해결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97764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977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Attention &amp; Transformer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17520" y="39776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메커니즘, 멀티헤드 어텐션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아키텍처 → GPT, BERT의 기반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프레임워크: PyTorch (연구/프로덕션 통합)  |  참고: TensorFlow/Keras, JAX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4: GenAI &amp; LLMs (Month 4)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언어 모델의 이해와 활용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16002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 심화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아키텍처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(디코더), BERT (인코더)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Tokenization, Positional Encoding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4880" y="1234440"/>
            <a:ext cx="4023360" cy="16002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02920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/ Few-shot 프롬프팅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추론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체계적 프롬프트 설계 방법론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3063240"/>
            <a:ext cx="4023360" cy="16002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461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임베딩 &amp; 벡터 DB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31520" y="3611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임베딩 모델 활용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Chroma, Pinecone, Weaviate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유사도 검색 (Cosine, ANN)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754880" y="3063240"/>
            <a:ext cx="4023360" cy="16002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4612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4924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파이프라인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029200" y="3611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청킹 → 임베딩 → 검색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주입 → LLM 생성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LlamaIndex 활용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필수 라이브러리 총정리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6459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192024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데이터 처리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Pandas · Polars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20240" cy="16459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0" y="1097280"/>
            <a:ext cx="1920240" cy="4114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시각화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60320" y="16002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 · Plotly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920240" cy="16459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97280"/>
            <a:ext cx="1920240" cy="411480"/>
          </a:xfrm>
          <a:prstGeom prst="rect">
            <a:avLst/>
          </a:prstGeom>
          <a:solidFill>
            <a:srgbClr val="0F2E5B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머신러닝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63440" y="16002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XGBoost · LightGBM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097280"/>
            <a:ext cx="1920240" cy="16459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0" y="1097280"/>
            <a:ext cx="1920240" cy="41148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딥러닝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66560" y="16002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TensorFlow · JAX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1920240" cy="16459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17520"/>
            <a:ext cx="1920240" cy="41148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NLP/LLM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3520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· LangChain · LlamaIndex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0" y="3017520"/>
            <a:ext cx="1920240" cy="16459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0" y="3017520"/>
            <a:ext cx="192024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0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MLOps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560320" y="3520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· DVC · Weights &amp; Biases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017520"/>
            <a:ext cx="1920240" cy="16459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017520"/>
            <a:ext cx="192024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배포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663440" y="3520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Docker · Kubernetes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66560" y="3017520"/>
            <a:ext cx="1920240" cy="16459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66560" y="3017520"/>
            <a:ext cx="1920240" cy="4114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벡터 DB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766560" y="3520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· Pinecone · Weaviate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MLOps란 무엇인가?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MLOps = Machine Learning + DevOps + Data Engineering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모델의 개발부터 배포, 모니터링까지의 전체 생애주기를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자동화하고 표준화하는 방법론과 도구의 집합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377440"/>
            <a:ext cx="1965960" cy="2011680"/>
          </a:xfrm>
          <a:prstGeom prst="rect">
            <a:avLst/>
          </a:prstGeom>
          <a:solidFill>
            <a:srgbClr val="0F2E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56032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3063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재현 가능성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57200" y="34747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코드, 데이터, 모델 버전을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완벽히 추적하고 재현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2606040" y="2377440"/>
            <a:ext cx="1965960" cy="2011680"/>
          </a:xfrm>
          <a:prstGeom prst="rect">
            <a:avLst/>
          </a:prstGeom>
          <a:solidFill>
            <a:srgbClr val="0F2E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56032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606040" y="3063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자동화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2606040" y="34747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프로세스를 CI/CD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파이프라인으로 자동화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754880" y="2377440"/>
            <a:ext cx="1965960" cy="2011680"/>
          </a:xfrm>
          <a:prstGeom prst="rect">
            <a:avLst/>
          </a:prstGeom>
          <a:solidFill>
            <a:srgbClr val="0F2E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56032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54880" y="3063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스케일링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4754880" y="34747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프로토타입을 프로덕션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레벨로 확장 및 운영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903720" y="2377440"/>
            <a:ext cx="1965960" cy="2011680"/>
          </a:xfrm>
          <a:prstGeom prst="rect">
            <a:avLst/>
          </a:prstGeom>
          <a:solidFill>
            <a:srgbClr val="0F2E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2560320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03720" y="3063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모니터링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6903720" y="34747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성능 저하 및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드리프트 감지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"2026년, Jupyter Notebook의 모델은 프로토타입이지 제품이 아닙니다"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MLOps 핵심 파이프라인 구조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777240" cy="7772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19659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수집/검증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19072" y="1051560"/>
            <a:ext cx="777240" cy="7772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1719072" y="1051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90472" y="19659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42032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80944" y="1051560"/>
            <a:ext cx="777240" cy="777240"/>
          </a:xfrm>
          <a:prstGeom prst="ellipse">
            <a:avLst/>
          </a:prstGeom>
          <a:solidFill>
            <a:srgbClr val="0F2E5B"/>
          </a:solidFill>
          <a:ln/>
        </p:spPr>
      </p:sp>
      <p:sp>
        <p:nvSpPr>
          <p:cNvPr id="12" name="Text 10"/>
          <p:cNvSpPr/>
          <p:nvPr/>
        </p:nvSpPr>
        <p:spPr>
          <a:xfrm>
            <a:off x="2980944" y="1051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52344" y="19659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03904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42816" y="1051560"/>
            <a:ext cx="777240" cy="77724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16" name="Text 14"/>
          <p:cNvSpPr/>
          <p:nvPr/>
        </p:nvSpPr>
        <p:spPr>
          <a:xfrm>
            <a:off x="4242816" y="1051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014216" y="19659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65776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04688" y="1051560"/>
            <a:ext cx="777240" cy="77724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0" name="Text 18"/>
          <p:cNvSpPr/>
          <p:nvPr/>
        </p:nvSpPr>
        <p:spPr>
          <a:xfrm>
            <a:off x="5504688" y="1051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276088" y="19659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레지스트리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27648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66560" y="105156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1051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537960" y="19659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(Serving)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28432" y="1051560"/>
            <a:ext cx="777240" cy="7772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8028432" y="1051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799832" y="19659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피드백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Continuous Feedback Loop: 모니터링 결과가 데이터 수집 및 모델 재학습으로 순환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108960"/>
            <a:ext cx="1965960" cy="18288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10896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200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데이터 관리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356616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관리 (DVC)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검증 (Great Expectations)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피처 스토어 (Feast)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606040" y="3108960"/>
            <a:ext cx="1965960" cy="18288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606040" y="3108960"/>
            <a:ext cx="1965960" cy="54864"/>
          </a:xfrm>
          <a:prstGeom prst="rect">
            <a:avLst/>
          </a:prstGeom>
          <a:solidFill>
            <a:srgbClr val="0F2E5B"/>
          </a:solidFill>
          <a:ln/>
        </p:spPr>
      </p:sp>
      <p:sp>
        <p:nvSpPr>
          <p:cNvPr id="38" name="Text 36"/>
          <p:cNvSpPr/>
          <p:nvPr/>
        </p:nvSpPr>
        <p:spPr>
          <a:xfrm>
            <a:off x="2606040" y="3200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실험 추적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697480" y="356616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하이퍼파라미터 로깅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메트릭 비교 (MLflow, W&amp;B)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아티팩트 저장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108960"/>
            <a:ext cx="1965960" cy="18288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108960"/>
            <a:ext cx="1965960" cy="54864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3200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파이프라인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846320" y="356616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테스트 &amp; 빌드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컨테이너화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/ Jenkins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03720" y="3108960"/>
            <a:ext cx="1965960" cy="18288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903720" y="3108960"/>
            <a:ext cx="1965960" cy="5486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6" name="Text 44"/>
          <p:cNvSpPr/>
          <p:nvPr/>
        </p:nvSpPr>
        <p:spPr>
          <a:xfrm>
            <a:off x="6903720" y="3200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모델 서빙 &amp; 모니터링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995160" y="356616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(FastAPI/Flask)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테스트, 카나리 배포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드리프트 감지 (Evidently AI)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MLOps 주요 도구 비교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84048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3017520"/>
                <a:gridCol w="2651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카테고리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도구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주요 기능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특징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실험 추적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실험 로깅, 모델 레지스트리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오픈소스, 프레임워크 무관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실험 추적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W&amp;B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시각화, 하이퍼파라미터 스윕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강력한 UI, 팀 협업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버전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데이터/모델 버전 관리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기반, 경량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파이프라인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파이프라인 오케스트레이션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K8s 네이티브, 확장성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파이프라인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파이프라인 관리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클라우드 네이티브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피처 스토어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피처 서빙/저장/공유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오픈소스, 온/오프라인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모니터링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Evidently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데이터/모델 드리프트 감지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시각적 리포트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클라우드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SageMaker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학습, 배포, 모니터링 통합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엔터프라이즈 표준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LLMOps란 무엇인가?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LLMOps = MLOps + LLM 특화 운영 체계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언어 모델(LLM)의 개발, 배포, 모니터링, 지속적 개선을 위한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운영 체계. 프롬프트 관리, 평가, 가드레일 등 LLM 고유 과제를 다룹니다.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MLOps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LLMOps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697480"/>
            <a:ext cx="3657600" cy="457200"/>
          </a:xfrm>
          <a:prstGeom prst="rect">
            <a:avLst/>
          </a:prstGeom>
          <a:solidFill>
            <a:srgbClr val="0F2E5B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학습 파이프라인 중심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743200"/>
            <a:ext cx="320040" cy="320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29200" y="2697480"/>
            <a:ext cx="36576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8"/>
          <p:cNvSpPr/>
          <p:nvPr/>
        </p:nvSpPr>
        <p:spPr>
          <a:xfrm>
            <a:off x="512064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엔지니어링이 핵심 개발 활동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246120"/>
            <a:ext cx="3657600" cy="457200"/>
          </a:xfrm>
          <a:prstGeom prst="rect">
            <a:avLst/>
          </a:prstGeom>
          <a:solidFill>
            <a:srgbClr val="0F2E5B"/>
          </a:solidFill>
          <a:ln/>
        </p:spPr>
      </p:sp>
      <p:sp>
        <p:nvSpPr>
          <p:cNvPr id="14" name="Text 10"/>
          <p:cNvSpPr/>
          <p:nvPr/>
        </p:nvSpPr>
        <p:spPr>
          <a:xfrm>
            <a:off x="5486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정량적 메트릭 (Accuracy, F1 등)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3291840"/>
            <a:ext cx="320040" cy="3200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0" y="3246120"/>
            <a:ext cx="36576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2"/>
          <p:cNvSpPr/>
          <p:nvPr/>
        </p:nvSpPr>
        <p:spPr>
          <a:xfrm>
            <a:off x="51206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정성적 평가 + 환각(Hallucination) 감지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3794760"/>
            <a:ext cx="3657600" cy="457200"/>
          </a:xfrm>
          <a:prstGeom prst="rect">
            <a:avLst/>
          </a:prstGeom>
          <a:solidFill>
            <a:srgbClr val="0F2E5B"/>
          </a:solidFill>
          <a:ln/>
        </p:spPr>
      </p:sp>
      <p:sp>
        <p:nvSpPr>
          <p:cNvPr id="19" name="Text 14"/>
          <p:cNvSpPr/>
          <p:nvPr/>
        </p:nvSpPr>
        <p:spPr>
          <a:xfrm>
            <a:off x="54864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드리프트 모니터링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840480"/>
            <a:ext cx="320040" cy="32004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029200" y="3794760"/>
            <a:ext cx="36576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16"/>
          <p:cNvSpPr/>
          <p:nvPr/>
        </p:nvSpPr>
        <p:spPr>
          <a:xfrm>
            <a:off x="512064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품질, 비용, 지연시간 모니터링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343400"/>
            <a:ext cx="3657600" cy="457200"/>
          </a:xfrm>
          <a:prstGeom prst="rect">
            <a:avLst/>
          </a:prstGeom>
          <a:solidFill>
            <a:srgbClr val="0F2E5B"/>
          </a:solidFill>
          <a:ln/>
        </p:spPr>
      </p:sp>
      <p:sp>
        <p:nvSpPr>
          <p:cNvPr id="24" name="Text 18"/>
          <p:cNvSpPr/>
          <p:nvPr/>
        </p:nvSpPr>
        <p:spPr>
          <a:xfrm>
            <a:off x="548640" y="4343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재학습으로 개선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4389120"/>
            <a:ext cx="320040" cy="32004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029200" y="4343400"/>
            <a:ext cx="36576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0"/>
          <p:cNvSpPr/>
          <p:nvPr/>
        </p:nvSpPr>
        <p:spPr>
          <a:xfrm>
            <a:off x="5120640" y="4343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반복, RAG 최적화, 파인튜닝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LLMOps 4단계 운영 체계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011680" cy="34747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1430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개발 &amp; 실험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37744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엔지니어링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선택 (GPT, Claude, Llama)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 설계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Agent 아키텍처 구축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005840"/>
            <a:ext cx="2011680" cy="34747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143000"/>
            <a:ext cx="640080" cy="640080"/>
          </a:xfrm>
          <a:prstGeom prst="ellipse">
            <a:avLst/>
          </a:prstGeom>
          <a:solidFill>
            <a:srgbClr val="0F2E5B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1460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배포 전 평가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237744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테스트 스위트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기준선 수립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리뷰 + 자동 Eval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정확성, 충실도, 안전성 평가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2011680" cy="34747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49240" y="1143000"/>
            <a:ext cx="640080" cy="6400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916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프로덕션 모니터링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237744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품질 회귀 감지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지연시간 스파이크 추적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이상 감지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환각(Hallucination) 비율 모니터링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1005840"/>
            <a:ext cx="2011680" cy="34747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543800" y="114300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0" name="Text 18"/>
          <p:cNvSpPr/>
          <p:nvPr/>
        </p:nvSpPr>
        <p:spPr>
          <a:xfrm>
            <a:off x="754380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지속적 개선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237744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프로덕션 실패 분석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피드백 반영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프롬프트/검색 설정 최적화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 데이터셋 개선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각 단계가 순환 구조를 이루며 지속적으로 LLM 시스템의 품질을 향상시킵니다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LLMOps 주요 도구 및 플랫폼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17830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783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97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LangSmith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LangChain의 관찰성 플랫폼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트레이싱, 평가, 데이터셋 관리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자동화된 품질 평가 프레임워크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06040" cy="17830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54864" cy="1783080"/>
          </a:xfrm>
          <a:prstGeom prst="rect">
            <a:avLst/>
          </a:prstGeom>
          <a:solidFill>
            <a:srgbClr val="0F2E5B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097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2900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Weights &amp; Biases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16459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실험 추적 &amp; 프롬프트 관리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 워크플로우 지원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기반 협업 기능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06040" cy="17830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05840"/>
            <a:ext cx="54864" cy="178308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097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6364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 AI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16459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유효성 검증 &amp; 가드레일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구조화된 출력 보장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스키마 기반 검증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06040" cy="17830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17520"/>
            <a:ext cx="54864" cy="178308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108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vLLM / TGI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36576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고성능 LLM 추론 엔진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PagedAttention 최적화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배치 처리 &amp; 양자화 지원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3017520"/>
            <a:ext cx="2606040" cy="17830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3017520"/>
            <a:ext cx="54864" cy="1783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3108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900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LangFuse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429000" y="36576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LLM 관찰성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추적, 지연시간 분석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피드백 수집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017520"/>
            <a:ext cx="2606040" cy="17830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3017520"/>
            <a:ext cx="54864" cy="1783080"/>
          </a:xfrm>
          <a:prstGeom prst="rect">
            <a:avLst/>
          </a:prstGeom>
          <a:solidFill>
            <a:srgbClr val="0F2E5B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3108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364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SageMaker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63640" y="36576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엔터프라이즈급 통합 플랫폼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JumpStart 파운데이션 모델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가속화 &amp; MLOps 워크플로우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vs Fine-Tuning 전략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7432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(Retrieval-Augmented Generation)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지식 베이스에서 정보를 검색하여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응답을 보강하는 패턴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모델 가중치를 변경하지 않음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실시간으로 최신 정보 반영 가능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초기 구축 비용이 상대적으로 낮음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빠르게 변하는 도메인 지식에 적합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검색 품질이 응답 품질을 좌우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대규모 트래픽 시 토큰 비용 증가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7432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0F2E5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 (미세 조정)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태스크/도메인에 맞춰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가중치를 직접 조정하는 방법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일관된 톤, 스타일, 형식 보장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특화된 분류/추론 성능 향상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대량 트래픽 시 추론 비용 절감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행동 일관성이 중요한 태스크에 적합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학습 데이터 준비에 시간/비용 소요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지식 업데이트 시 재학습 필요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8229600" cy="10058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베스트 프랙티스: 하이브리드 접근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RAG로 사실적 정확성을 확보하고, Fine-Tuning으로 행동 일관성을 보장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"RAG는 오늘의 진실을 유지하고, Fine-Tuning은 내일의 일관성을 만든다"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실제 활용 사례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7373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737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43000"/>
            <a:ext cx="77724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0876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기반 사기 탐지 시스템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거래 분석 + 이상 탐지 모델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MLOps: 모델 드리프트 자동 감지, A/B 테스트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LLMOps: 고객 문의 자동 응답 + RAG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17373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54864" cy="1737360"/>
          </a:xfrm>
          <a:prstGeom prst="rect">
            <a:avLst/>
          </a:prstGeom>
          <a:solidFill>
            <a:srgbClr val="0F2E5B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1143000"/>
            <a:ext cx="777240" cy="274320"/>
          </a:xfrm>
          <a:prstGeom prst="rect">
            <a:avLst/>
          </a:prstGeom>
          <a:solidFill>
            <a:srgbClr val="0F2E5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43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헬스케어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0644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의료 문서 분석 시스템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5087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의료 기록 자동 요약 (LLM)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의학 문헌 검색 + 근거 기반 답변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MLOps: HIPAA 규정 준수 모니터링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7373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71800"/>
            <a:ext cx="54864" cy="17373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108960"/>
            <a:ext cx="777240" cy="2743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08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이커머스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개인화 추천 + 챗봇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474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ML 모델 + LLM 상품 설명 생성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MLOps: 실시간 피처 서빙 (Feast)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LLMOps: 챗봇 응답 품질 모니터링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971800"/>
            <a:ext cx="4023360" cy="17373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971800"/>
            <a:ext cx="54864" cy="173736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3" name="Shape 21"/>
          <p:cNvSpPr/>
          <p:nvPr/>
        </p:nvSpPr>
        <p:spPr>
          <a:xfrm>
            <a:off x="4937760" y="3108960"/>
            <a:ext cx="777240" cy="2743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108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0644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예지 보전 + 품질 관리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474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기반 고장 예측 모델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MLOps: Edge 배포 + 모델 업데이트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LLMOps: 기술 매뉴얼 Q&amp;A 시스템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베스트 프랙티스 &amp; 실전 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0972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프로젝트 중심 학습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 → 즉시 미니 프로젝트 적용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시스템을 직접 구축해 보는 것이 핵심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10972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1097280"/>
          </a:xfrm>
          <a:prstGeom prst="rect">
            <a:avLst/>
          </a:prstGeom>
          <a:solidFill>
            <a:srgbClr val="0F2E5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Git으로 모든 것을 관리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코드, 데이터(DVC), 프롬프트, 설정 파일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버전 관리 → 재현 가능성 확보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4023360" cy="10972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31720"/>
            <a:ext cx="54864" cy="109728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04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컨테이너화 필수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환경 = 프로덕션 환경 일치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"내 컴퓨터에서는 작동합니다" 문제 방지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331720"/>
            <a:ext cx="4023360" cy="10972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331720"/>
            <a:ext cx="54864" cy="109728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404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평가(Eval) 체계 수립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697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 정량적 메트릭 + 교차 검증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자동 Eval + Human-in-the-loop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4023360" cy="10972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54864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3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모니터링을 처음부터 설계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데이터/모델 드리프트 감지 자동화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환각 비율, 응답 품질, 비용 추적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657600"/>
            <a:ext cx="4023360" cy="10972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657600"/>
            <a:ext cx="54864" cy="1097280"/>
          </a:xfrm>
          <a:prstGeom prst="rect">
            <a:avLst/>
          </a:prstGeom>
          <a:solidFill>
            <a:srgbClr val="0F2E5B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73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비용 최적화 전략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4023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양자화, 캐싱, 배치 처리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최적화로 토큰 비용 절감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2743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요약 &amp; 다음 단계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31520" y="16916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80160" y="16459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기초부터 탄탄하게: Python, 수학, 데이터 처리 역량이 모든 것의 기반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22402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0160" y="21945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→ DL → GenAI 순서로 단계적 학습, 각 단계마다 프로젝트 필수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80160" y="27432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MLOps: 모델 버전 관리, CI/CD, 모니터링으로 프로덕션 역량 확보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31520" y="33375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80160" y="32918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LLMOps: 프롬프트 관리, 평가 체계, 가드레일, RAG/Fine-tuning 전략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31520" y="38862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80160" y="3840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핵심: 하이브리드 역량 (ML + DL + GenAI + Ops) 보유 인재가 가장 높은 수요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"도구는 매년 변하지만, 배우고 적응하는 능력은 절대 가치가 떨어지지 않습니다"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E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9144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학습을 시작하세요!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ML Journey Today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학습 로드맵 2026 — MLOps &amp; LLMOps 완벽 가이드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AI/ML 학습 로드맵 2026 - MLOps &amp; LLMOps 완벽 가이드</dc:title>
  <dc:subject>PptxGenJS Presentation</dc:subject>
  <dc:creator>AI Learning Guide</dc:creator>
  <cp:lastModifiedBy>AI Learning Guide</cp:lastModifiedBy>
  <cp:revision>1</cp:revision>
  <dcterms:created xsi:type="dcterms:W3CDTF">2026-04-16T04:46:19Z</dcterms:created>
  <dcterms:modified xsi:type="dcterms:W3CDTF">2026-04-16T04:46:19Z</dcterms:modified>
</cp:coreProperties>
</file>